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Economica"/>
      <p:regular r:id="rId27"/>
      <p:bold r:id="rId28"/>
      <p:italic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Economica-bold.fntdata"/><Relationship Id="rId27" Type="http://schemas.openxmlformats.org/officeDocument/2006/relationships/font" Target="fonts/Economica-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conomica-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regular.fntdata"/><Relationship Id="rId30" Type="http://schemas.openxmlformats.org/officeDocument/2006/relationships/font" Target="fonts/Economica-boldItalic.fntdata"/><Relationship Id="rId11" Type="http://schemas.openxmlformats.org/officeDocument/2006/relationships/slide" Target="slides/slide6.xml"/><Relationship Id="rId33" Type="http://schemas.openxmlformats.org/officeDocument/2006/relationships/font" Target="fonts/OpenSans-italic.fntdata"/><Relationship Id="rId10" Type="http://schemas.openxmlformats.org/officeDocument/2006/relationships/slide" Target="slides/slide5.xml"/><Relationship Id="rId32" Type="http://schemas.openxmlformats.org/officeDocument/2006/relationships/font" Target="fonts/OpenSans-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Open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f8376d3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af8376d3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d847235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d847235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d8472356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d8472356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e51be6a8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e51be6a8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f8376d37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f8376d37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f8376d37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f8376d37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e51be6a86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e51be6a86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e51be6a86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e51be6a86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e51be6a86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e51be6a86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e51be6a86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e51be6a86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e51be6a86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e51be6a86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e51be6a86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e51be6a86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f5c9431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f5c9431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e51be6a86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e51be6a86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f7e418d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f7e418d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f7e418d1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f7e418d1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e51be6a86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e51be6a86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f8376d37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f8376d37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f9ea2ed1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f9ea2ed1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e51be6a86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e51be6a86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github.com/Dollablozzy/Network-Simulator"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11700" y="967675"/>
            <a:ext cx="8520600" cy="90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Group Term Project</a:t>
            </a:r>
            <a:endParaRPr sz="4800"/>
          </a:p>
        </p:txBody>
      </p:sp>
      <p:sp>
        <p:nvSpPr>
          <p:cNvPr id="63" name="Google Shape;63;p13"/>
          <p:cNvSpPr txBox="1"/>
          <p:nvPr>
            <p:ph idx="1" type="subTitle"/>
          </p:nvPr>
        </p:nvSpPr>
        <p:spPr>
          <a:xfrm>
            <a:off x="2077050" y="2361825"/>
            <a:ext cx="5008500" cy="123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1"/>
                </a:solidFill>
              </a:rPr>
              <a:t>Myles Moore, Sean Wright, Sudina Thapaliya, Janee Lewis, Joshua Harrell</a:t>
            </a:r>
            <a:endParaRPr sz="24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Problem Statement </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55000" lnSpcReduction="20000"/>
          </a:bodyPr>
          <a:lstStyle/>
          <a:p>
            <a:pPr indent="0" lvl="0" marL="0" rtl="0" algn="l">
              <a:spcBef>
                <a:spcPts val="1200"/>
              </a:spcBef>
              <a:spcAft>
                <a:spcPts val="0"/>
              </a:spcAft>
              <a:buClr>
                <a:schemeClr val="dk1"/>
              </a:buClr>
              <a:buSzPct val="38778"/>
              <a:buFont typeface="Arial"/>
              <a:buNone/>
            </a:pPr>
            <a:r>
              <a:rPr lang="en" sz="2836">
                <a:solidFill>
                  <a:schemeClr val="dk1"/>
                </a:solidFill>
                <a:latin typeface="Times New Roman"/>
                <a:ea typeface="Times New Roman"/>
                <a:cs typeface="Times New Roman"/>
                <a:sym typeface="Times New Roman"/>
              </a:rPr>
              <a:t>It’s hard to understand what really happens inside a computer network when data moves from one place to another, especially since most modern tools hide the low-level details. To get real hands-on experience, our team is building a small network simulation in C++/terminal that shows how packets are created, routed, and controlled during transmission.</a:t>
            </a:r>
            <a:endParaRPr sz="2836">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ct val="38778"/>
              <a:buFont typeface="Arial"/>
              <a:buNone/>
            </a:pPr>
            <a:r>
              <a:rPr lang="en" sz="2836">
                <a:solidFill>
                  <a:schemeClr val="dk1"/>
                </a:solidFill>
                <a:latin typeface="Times New Roman"/>
                <a:ea typeface="Times New Roman"/>
                <a:cs typeface="Times New Roman"/>
                <a:sym typeface="Times New Roman"/>
              </a:rPr>
              <a:t>Our project is organized into a clean structure with components like </a:t>
            </a:r>
            <a:r>
              <a:rPr lang="en" sz="2836">
                <a:solidFill>
                  <a:srgbClr val="188038"/>
                </a:solidFill>
                <a:latin typeface="Times New Roman"/>
                <a:ea typeface="Times New Roman"/>
                <a:cs typeface="Times New Roman"/>
                <a:sym typeface="Times New Roman"/>
              </a:rPr>
              <a:t>Main</a:t>
            </a:r>
            <a:r>
              <a:rPr lang="en" sz="2836">
                <a:solidFill>
                  <a:schemeClr val="dk1"/>
                </a:solidFill>
                <a:latin typeface="Times New Roman"/>
                <a:ea typeface="Times New Roman"/>
                <a:cs typeface="Times New Roman"/>
                <a:sym typeface="Times New Roman"/>
              </a:rPr>
              <a:t>, </a:t>
            </a:r>
            <a:r>
              <a:rPr lang="en" sz="2836">
                <a:solidFill>
                  <a:srgbClr val="188038"/>
                </a:solidFill>
                <a:latin typeface="Times New Roman"/>
                <a:ea typeface="Times New Roman"/>
                <a:cs typeface="Times New Roman"/>
                <a:sym typeface="Times New Roman"/>
              </a:rPr>
              <a:t>Packet</a:t>
            </a:r>
            <a:r>
              <a:rPr lang="en" sz="2836">
                <a:solidFill>
                  <a:schemeClr val="dk1"/>
                </a:solidFill>
                <a:latin typeface="Times New Roman"/>
                <a:ea typeface="Times New Roman"/>
                <a:cs typeface="Times New Roman"/>
                <a:sym typeface="Times New Roman"/>
              </a:rPr>
              <a:t>, </a:t>
            </a:r>
            <a:r>
              <a:rPr lang="en" sz="2836">
                <a:solidFill>
                  <a:srgbClr val="188038"/>
                </a:solidFill>
                <a:latin typeface="Times New Roman"/>
                <a:ea typeface="Times New Roman"/>
                <a:cs typeface="Times New Roman"/>
                <a:sym typeface="Times New Roman"/>
              </a:rPr>
              <a:t>RoutingTable</a:t>
            </a:r>
            <a:r>
              <a:rPr lang="en" sz="2836">
                <a:solidFill>
                  <a:schemeClr val="dk1"/>
                </a:solidFill>
                <a:latin typeface="Times New Roman"/>
                <a:ea typeface="Times New Roman"/>
                <a:cs typeface="Times New Roman"/>
                <a:sym typeface="Times New Roman"/>
              </a:rPr>
              <a:t>, </a:t>
            </a:r>
            <a:r>
              <a:rPr lang="en" sz="2836">
                <a:solidFill>
                  <a:srgbClr val="188038"/>
                </a:solidFill>
                <a:latin typeface="Times New Roman"/>
                <a:ea typeface="Times New Roman"/>
                <a:cs typeface="Times New Roman"/>
                <a:sym typeface="Times New Roman"/>
              </a:rPr>
              <a:t>NetworkSimulator</a:t>
            </a:r>
            <a:r>
              <a:rPr lang="en" sz="2836">
                <a:solidFill>
                  <a:schemeClr val="dk1"/>
                </a:solidFill>
                <a:latin typeface="Times New Roman"/>
                <a:ea typeface="Times New Roman"/>
                <a:cs typeface="Times New Roman"/>
                <a:sym typeface="Times New Roman"/>
              </a:rPr>
              <a:t>, and </a:t>
            </a:r>
            <a:r>
              <a:rPr lang="en" sz="2836">
                <a:solidFill>
                  <a:srgbClr val="188038"/>
                </a:solidFill>
                <a:latin typeface="Times New Roman"/>
                <a:ea typeface="Times New Roman"/>
                <a:cs typeface="Times New Roman"/>
                <a:sym typeface="Times New Roman"/>
              </a:rPr>
              <a:t>FlowControl</a:t>
            </a:r>
            <a:r>
              <a:rPr lang="en" sz="2836">
                <a:solidFill>
                  <a:schemeClr val="dk1"/>
                </a:solidFill>
                <a:latin typeface="Times New Roman"/>
                <a:ea typeface="Times New Roman"/>
                <a:cs typeface="Times New Roman"/>
                <a:sym typeface="Times New Roman"/>
              </a:rPr>
              <a:t>, each handling a different part of the process—everything from generating packets with checksums to routing decisions and flow control using Stop-and-Wait and Sliding Window techniques. We’re coding the entire project in </a:t>
            </a:r>
            <a:r>
              <a:rPr b="1" lang="en" sz="2836">
                <a:solidFill>
                  <a:schemeClr val="dk1"/>
                </a:solidFill>
                <a:latin typeface="Times New Roman"/>
                <a:ea typeface="Times New Roman"/>
                <a:cs typeface="Times New Roman"/>
                <a:sym typeface="Times New Roman"/>
              </a:rPr>
              <a:t>vi/vim</a:t>
            </a:r>
            <a:r>
              <a:rPr lang="en" sz="2836">
                <a:solidFill>
                  <a:schemeClr val="dk1"/>
                </a:solidFill>
                <a:latin typeface="Times New Roman"/>
                <a:ea typeface="Times New Roman"/>
                <a:cs typeface="Times New Roman"/>
                <a:sym typeface="Times New Roman"/>
              </a:rPr>
              <a:t> and using </a:t>
            </a:r>
            <a:r>
              <a:rPr b="1" lang="en" sz="2836">
                <a:solidFill>
                  <a:schemeClr val="dk1"/>
                </a:solidFill>
                <a:latin typeface="Times New Roman"/>
                <a:ea typeface="Times New Roman"/>
                <a:cs typeface="Times New Roman"/>
                <a:sym typeface="Times New Roman"/>
              </a:rPr>
              <a:t>Make with a custom Makefile</a:t>
            </a:r>
            <a:r>
              <a:rPr lang="en" sz="2836">
                <a:solidFill>
                  <a:schemeClr val="dk1"/>
                </a:solidFill>
                <a:latin typeface="Times New Roman"/>
                <a:ea typeface="Times New Roman"/>
                <a:cs typeface="Times New Roman"/>
                <a:sym typeface="Times New Roman"/>
              </a:rPr>
              <a:t> to build and run it in the FreeBSD environment.</a:t>
            </a:r>
            <a:endParaRPr sz="2836">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836">
                <a:solidFill>
                  <a:schemeClr val="dk1"/>
                </a:solidFill>
                <a:latin typeface="Times New Roman"/>
                <a:ea typeface="Times New Roman"/>
                <a:cs typeface="Times New Roman"/>
                <a:sym typeface="Times New Roman"/>
              </a:rPr>
              <a:t>Overall, this project helps us better understand how low-level network operations actually work while also proving that we can manage a full systems-level workflow without relying on any modern IDEs.</a:t>
            </a:r>
            <a:endParaRPr sz="2836">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Goal of our Project </a:t>
            </a:r>
            <a:endParaRPr/>
          </a:p>
        </p:txBody>
      </p:sp>
      <p:sp>
        <p:nvSpPr>
          <p:cNvPr id="75" name="Google Shape;75;p15"/>
          <p:cNvSpPr txBox="1"/>
          <p:nvPr>
            <p:ph idx="1" type="body"/>
          </p:nvPr>
        </p:nvSpPr>
        <p:spPr>
          <a:xfrm>
            <a:off x="311700" y="1176150"/>
            <a:ext cx="8520600" cy="3416400"/>
          </a:xfrm>
          <a:prstGeom prst="rect">
            <a:avLst/>
          </a:prstGeom>
        </p:spPr>
        <p:txBody>
          <a:bodyPr anchorCtr="0" anchor="t" bIns="91425" lIns="91425" spcFirstLastPara="1" rIns="91425" wrap="square" tIns="91425">
            <a:normAutofit/>
          </a:bodyPr>
          <a:lstStyle/>
          <a:p>
            <a:pPr indent="-374650" lvl="0" marL="457200" rtl="0" algn="just">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To simulate basic network operations</a:t>
            </a:r>
            <a:endParaRPr sz="2300">
              <a:solidFill>
                <a:schemeClr val="dk1"/>
              </a:solidFill>
              <a:latin typeface="Times New Roman"/>
              <a:ea typeface="Times New Roman"/>
              <a:cs typeface="Times New Roman"/>
              <a:sym typeface="Times New Roman"/>
            </a:endParaRPr>
          </a:p>
          <a:p>
            <a:pPr indent="-374650" lvl="0" marL="457200" rtl="0" algn="just">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To demonstrate our </a:t>
            </a:r>
            <a:r>
              <a:rPr lang="en" sz="2300">
                <a:solidFill>
                  <a:schemeClr val="dk1"/>
                </a:solidFill>
                <a:latin typeface="Times New Roman"/>
                <a:ea typeface="Times New Roman"/>
                <a:cs typeface="Times New Roman"/>
                <a:sym typeface="Times New Roman"/>
              </a:rPr>
              <a:t>proficiency</a:t>
            </a:r>
            <a:r>
              <a:rPr lang="en" sz="2300">
                <a:solidFill>
                  <a:schemeClr val="dk1"/>
                </a:solidFill>
                <a:latin typeface="Times New Roman"/>
                <a:ea typeface="Times New Roman"/>
                <a:cs typeface="Times New Roman"/>
                <a:sym typeface="Times New Roman"/>
              </a:rPr>
              <a:t> in developing in C++.</a:t>
            </a:r>
            <a:endParaRPr sz="2300">
              <a:solidFill>
                <a:schemeClr val="dk1"/>
              </a:solidFill>
              <a:latin typeface="Times New Roman"/>
              <a:ea typeface="Times New Roman"/>
              <a:cs typeface="Times New Roman"/>
              <a:sym typeface="Times New Roman"/>
            </a:endParaRPr>
          </a:p>
          <a:p>
            <a:pPr indent="-374650" lvl="0" marL="457200" rtl="0" algn="just">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Using the vi/vim text editor for all code editing and modifications.</a:t>
            </a:r>
            <a:endParaRPr sz="2300">
              <a:solidFill>
                <a:schemeClr val="dk1"/>
              </a:solidFill>
              <a:latin typeface="Times New Roman"/>
              <a:ea typeface="Times New Roman"/>
              <a:cs typeface="Times New Roman"/>
              <a:sym typeface="Times New Roman"/>
            </a:endParaRPr>
          </a:p>
          <a:p>
            <a:pPr indent="-374650" lvl="0" marL="457200" rtl="0" algn="just">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Utilizing Make and your custom Makefile to compile, clean, and run your project within the FreeBSD terminal environment.</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Project Structure</a:t>
            </a:r>
            <a:endParaRPr/>
          </a:p>
        </p:txBody>
      </p:sp>
      <p:sp>
        <p:nvSpPr>
          <p:cNvPr id="81" name="Google Shape;81;p16"/>
          <p:cNvSpPr txBox="1"/>
          <p:nvPr>
            <p:ph idx="1" type="body"/>
          </p:nvPr>
        </p:nvSpPr>
        <p:spPr>
          <a:xfrm>
            <a:off x="311700" y="1017725"/>
            <a:ext cx="8520600" cy="3878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Networking-Stack-Simulation-main/</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bin/                        # Compiled .class files (output directory)</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network/</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FlowControl.class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FlowControlTest.class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Main.class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MainTest.class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NetworkSimulator.class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NetworkSimulatorTest.class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Packet.class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PacketTest.class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RoutingTable.class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RoutingTableTest.class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libs/                       # External libraries for testing</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hamcrest-core-1.3.jar</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junit-4.13.2.jar</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src/</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network/</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FlowControl.java        # Flow control algorithms (Stop-and-Wait, Sliding Window)</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Main.java              # Entry point and demonstration</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NetworkSimulator.java  # Core network simulation (sends/routs packets)</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Packet.java            # Packet representation with checksum</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RoutingTable.java      # Simple routing table abstraction</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test/</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network/</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FlowControlTest.java   # JUnit tests for flow control</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MainTest.java          # JUnit tests for demo behavior</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NetworkSimulatorTest.java</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PacketTest.java</a:t>
            </a:r>
            <a:endParaRPr sz="600">
              <a:solidFill>
                <a:schemeClr val="dk1"/>
              </a:solidFill>
            </a:endParaRPr>
          </a:p>
          <a:p>
            <a:pPr indent="0" lvl="0" marL="0" rtl="0" algn="l">
              <a:lnSpc>
                <a:spcPct val="135714"/>
              </a:lnSpc>
              <a:spcBef>
                <a:spcPts val="0"/>
              </a:spcBef>
              <a:spcAft>
                <a:spcPts val="0"/>
              </a:spcAft>
              <a:buClr>
                <a:schemeClr val="dk1"/>
              </a:buClr>
              <a:buSzPts val="1100"/>
              <a:buFont typeface="Arial"/>
              <a:buNone/>
            </a:pPr>
            <a:r>
              <a:rPr lang="en" sz="600">
                <a:solidFill>
                  <a:schemeClr val="dk1"/>
                </a:solidFill>
              </a:rPr>
              <a:t>        └── RoutingTableTest.java</a:t>
            </a:r>
            <a:endParaRPr sz="600">
              <a:solidFill>
                <a:schemeClr val="dk1"/>
              </a:solidFill>
            </a:endParaRPr>
          </a:p>
          <a:p>
            <a:pPr indent="0" lvl="0" marL="0" rtl="0" algn="l">
              <a:spcBef>
                <a:spcPts val="0"/>
              </a:spcBef>
              <a:spcAft>
                <a:spcPts val="1200"/>
              </a:spcAft>
              <a:buNone/>
            </a:pPr>
            <a:r>
              <a:t/>
            </a:r>
            <a:endParaRPr sz="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Component Overview</a:t>
            </a:r>
            <a:endParaRPr/>
          </a:p>
        </p:txBody>
      </p:sp>
      <p:sp>
        <p:nvSpPr>
          <p:cNvPr id="87" name="Google Shape;87;p1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Main - Creates packets, routes them and triggers flow control</a:t>
            </a:r>
            <a:endParaRPr>
              <a:solidFill>
                <a:schemeClr val="dk1"/>
              </a:solidFill>
            </a:endParaRPr>
          </a:p>
          <a:p>
            <a:pPr indent="0" lvl="0" marL="0" rtl="0" algn="l">
              <a:spcBef>
                <a:spcPts val="1200"/>
              </a:spcBef>
              <a:spcAft>
                <a:spcPts val="0"/>
              </a:spcAft>
              <a:buNone/>
            </a:pPr>
            <a:r>
              <a:rPr lang="en">
                <a:solidFill>
                  <a:schemeClr val="dk1"/>
                </a:solidFill>
              </a:rPr>
              <a:t>Packet - Represents a data packet w/ checksum</a:t>
            </a:r>
            <a:endParaRPr>
              <a:solidFill>
                <a:schemeClr val="dk1"/>
              </a:solidFill>
            </a:endParaRPr>
          </a:p>
          <a:p>
            <a:pPr indent="0" lvl="0" marL="0" rtl="0" algn="l">
              <a:spcBef>
                <a:spcPts val="1200"/>
              </a:spcBef>
              <a:spcAft>
                <a:spcPts val="0"/>
              </a:spcAft>
              <a:buNone/>
            </a:pPr>
            <a:r>
              <a:rPr lang="en">
                <a:solidFill>
                  <a:schemeClr val="dk1"/>
                </a:solidFill>
              </a:rPr>
              <a:t>RoutingTable - Stores destination, next hop mappings</a:t>
            </a:r>
            <a:endParaRPr>
              <a:solidFill>
                <a:schemeClr val="dk1"/>
              </a:solidFill>
            </a:endParaRPr>
          </a:p>
          <a:p>
            <a:pPr indent="0" lvl="0" marL="0" rtl="0" algn="l">
              <a:spcBef>
                <a:spcPts val="1200"/>
              </a:spcBef>
              <a:spcAft>
                <a:spcPts val="0"/>
              </a:spcAft>
              <a:buNone/>
            </a:pPr>
            <a:r>
              <a:rPr lang="en">
                <a:solidFill>
                  <a:schemeClr val="dk1"/>
                </a:solidFill>
              </a:rPr>
              <a:t>NetworkSimulator - Handles routing and transmission</a:t>
            </a:r>
            <a:endParaRPr>
              <a:solidFill>
                <a:schemeClr val="dk1"/>
              </a:solidFill>
            </a:endParaRPr>
          </a:p>
          <a:p>
            <a:pPr indent="0" lvl="0" marL="0" rtl="0" algn="l">
              <a:spcBef>
                <a:spcPts val="1200"/>
              </a:spcBef>
              <a:spcAft>
                <a:spcPts val="1200"/>
              </a:spcAft>
              <a:buNone/>
            </a:pPr>
            <a:r>
              <a:rPr lang="en">
                <a:solidFill>
                  <a:schemeClr val="dk1"/>
                </a:solidFill>
              </a:rPr>
              <a:t>FlowControl - Implements Stop-and-Wait + Sliding Window</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Design Overview</a:t>
            </a:r>
            <a:endParaRPr/>
          </a:p>
        </p:txBody>
      </p:sp>
      <p:sp>
        <p:nvSpPr>
          <p:cNvPr id="93" name="Google Shape;93;p1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Our project is designed to give a clearer, hands-on look at how basic network operations actually work by breaking the system into several simple components that each handle a specific part of the networking process. The structure is intentionally modular, so each class focuses on one task while still interacting with the others to simulate a complete data-transfer pipeline.</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The program starts in </a:t>
            </a:r>
            <a:r>
              <a:rPr b="1" lang="en" sz="1500">
                <a:solidFill>
                  <a:schemeClr val="dk1"/>
                </a:solidFill>
                <a:latin typeface="Times New Roman"/>
                <a:ea typeface="Times New Roman"/>
                <a:cs typeface="Times New Roman"/>
                <a:sym typeface="Times New Roman"/>
              </a:rPr>
              <a:t>Main</a:t>
            </a:r>
            <a:r>
              <a:rPr lang="en" sz="1500">
                <a:solidFill>
                  <a:schemeClr val="dk1"/>
                </a:solidFill>
                <a:latin typeface="Times New Roman"/>
                <a:ea typeface="Times New Roman"/>
                <a:cs typeface="Times New Roman"/>
                <a:sym typeface="Times New Roman"/>
              </a:rPr>
              <a:t>, where packets are created and the simulation is triggered. Each packet is represented by the </a:t>
            </a:r>
            <a:r>
              <a:rPr b="1" lang="en" sz="1500">
                <a:solidFill>
                  <a:schemeClr val="dk1"/>
                </a:solidFill>
                <a:latin typeface="Times New Roman"/>
                <a:ea typeface="Times New Roman"/>
                <a:cs typeface="Times New Roman"/>
                <a:sym typeface="Times New Roman"/>
              </a:rPr>
              <a:t>Packet</a:t>
            </a:r>
            <a:r>
              <a:rPr lang="en" sz="1500">
                <a:solidFill>
                  <a:schemeClr val="dk1"/>
                </a:solidFill>
                <a:latin typeface="Times New Roman"/>
                <a:ea typeface="Times New Roman"/>
                <a:cs typeface="Times New Roman"/>
                <a:sym typeface="Times New Roman"/>
              </a:rPr>
              <a:t> class, which stores core information like data, destination, and a checksum to mimic basic error detection. Once a packet is generated, it is passed to the </a:t>
            </a:r>
            <a:r>
              <a:rPr b="1" lang="en" sz="1500">
                <a:solidFill>
                  <a:schemeClr val="dk1"/>
                </a:solidFill>
                <a:latin typeface="Times New Roman"/>
                <a:ea typeface="Times New Roman"/>
                <a:cs typeface="Times New Roman"/>
                <a:sym typeface="Times New Roman"/>
              </a:rPr>
              <a:t>NetworkSimulator</a:t>
            </a:r>
            <a:r>
              <a:rPr lang="en" sz="1500">
                <a:solidFill>
                  <a:schemeClr val="dk1"/>
                </a:solidFill>
                <a:latin typeface="Times New Roman"/>
                <a:ea typeface="Times New Roman"/>
                <a:cs typeface="Times New Roman"/>
                <a:sym typeface="Times New Roman"/>
              </a:rPr>
              <a:t>, which acts as the central controller for the entire workflow. The simulator checks the </a:t>
            </a:r>
            <a:r>
              <a:rPr b="1" lang="en" sz="1500">
                <a:solidFill>
                  <a:schemeClr val="dk1"/>
                </a:solidFill>
                <a:latin typeface="Times New Roman"/>
                <a:ea typeface="Times New Roman"/>
                <a:cs typeface="Times New Roman"/>
                <a:sym typeface="Times New Roman"/>
              </a:rPr>
              <a:t>RoutingTable</a:t>
            </a:r>
            <a:r>
              <a:rPr lang="en" sz="1500">
                <a:solidFill>
                  <a:schemeClr val="dk1"/>
                </a:solidFill>
                <a:latin typeface="Times New Roman"/>
                <a:ea typeface="Times New Roman"/>
                <a:cs typeface="Times New Roman"/>
                <a:sym typeface="Times New Roman"/>
              </a:rPr>
              <a:t>, a small, custom mapping of destinations to next hops, to determine how the packet should move through the network.</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Design Overview cont'd…</a:t>
            </a:r>
            <a:endParaRPr/>
          </a:p>
        </p:txBody>
      </p:sp>
      <p:sp>
        <p:nvSpPr>
          <p:cNvPr id="99" name="Google Shape;99;p1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As the packet is routed, the </a:t>
            </a:r>
            <a:r>
              <a:rPr b="1" lang="en" sz="1500">
                <a:solidFill>
                  <a:schemeClr val="dk1"/>
                </a:solidFill>
                <a:latin typeface="Times New Roman"/>
                <a:ea typeface="Times New Roman"/>
                <a:cs typeface="Times New Roman"/>
                <a:sym typeface="Times New Roman"/>
              </a:rPr>
              <a:t>FlowControl</a:t>
            </a:r>
            <a:r>
              <a:rPr lang="en" sz="1500">
                <a:solidFill>
                  <a:schemeClr val="dk1"/>
                </a:solidFill>
                <a:latin typeface="Times New Roman"/>
                <a:ea typeface="Times New Roman"/>
                <a:cs typeface="Times New Roman"/>
                <a:sym typeface="Times New Roman"/>
              </a:rPr>
              <a:t> component manages how packets are actually transmitted. We implemented two classic algorithms, </a:t>
            </a:r>
            <a:r>
              <a:rPr b="1" lang="en" sz="1500">
                <a:solidFill>
                  <a:schemeClr val="dk1"/>
                </a:solidFill>
                <a:latin typeface="Times New Roman"/>
                <a:ea typeface="Times New Roman"/>
                <a:cs typeface="Times New Roman"/>
                <a:sym typeface="Times New Roman"/>
              </a:rPr>
              <a:t>Stop-and-Wait</a:t>
            </a:r>
            <a:r>
              <a:rPr lang="en" sz="1500">
                <a:solidFill>
                  <a:schemeClr val="dk1"/>
                </a:solidFill>
                <a:latin typeface="Times New Roman"/>
                <a:ea typeface="Times New Roman"/>
                <a:cs typeface="Times New Roman"/>
                <a:sym typeface="Times New Roman"/>
              </a:rPr>
              <a:t> and </a:t>
            </a:r>
            <a:r>
              <a:rPr b="1" lang="en" sz="1500">
                <a:solidFill>
                  <a:schemeClr val="dk1"/>
                </a:solidFill>
                <a:latin typeface="Times New Roman"/>
                <a:ea typeface="Times New Roman"/>
                <a:cs typeface="Times New Roman"/>
                <a:sym typeface="Times New Roman"/>
              </a:rPr>
              <a:t>Sliding Window</a:t>
            </a:r>
            <a:r>
              <a:rPr lang="en" sz="1500">
                <a:solidFill>
                  <a:schemeClr val="dk1"/>
                </a:solidFill>
                <a:latin typeface="Times New Roman"/>
                <a:ea typeface="Times New Roman"/>
                <a:cs typeface="Times New Roman"/>
                <a:sym typeface="Times New Roman"/>
              </a:rPr>
              <a:t> so the user can see the difference between simple and more efficient flow control methods. Stop-and-Wait sends one packet at a time, while Sliding Window allows multiple packets to be in transit at once, which better reflects modern networking behavior.</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All components work together to simulate a basic but realistic networking workflow. The design keeps each task separate (packet creation, routing, flow control), which not only helps us understand each part individually but also makes the overall system easier to test, debug, and extend. By building and running this simulation completely in vi/vim with Make on FreeBSD, we also reinforce real systems-level development practices throughout the project.</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Main.java</a:t>
            </a:r>
            <a:endParaRPr/>
          </a:p>
        </p:txBody>
      </p:sp>
      <p:sp>
        <p:nvSpPr>
          <p:cNvPr id="105" name="Google Shape;105;p2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70000" lnSpcReduction="20000"/>
          </a:bodyPr>
          <a:lstStyle/>
          <a:p>
            <a:pPr indent="0" lvl="0" marL="0" rtl="0" algn="l">
              <a:lnSpc>
                <a:spcPct val="100000"/>
              </a:lnSpc>
              <a:spcBef>
                <a:spcPts val="0"/>
              </a:spcBef>
              <a:spcAft>
                <a:spcPts val="0"/>
              </a:spcAft>
              <a:buNone/>
            </a:pPr>
            <a:r>
              <a:rPr lang="en" sz="1100">
                <a:solidFill>
                  <a:schemeClr val="dk1"/>
                </a:solidFill>
              </a:rPr>
              <a:t>Acts as the entry point to the entire application</a:t>
            </a:r>
            <a:endParaRPr sz="1100">
              <a:solidFill>
                <a:schemeClr val="dk1"/>
              </a:solidFill>
            </a:endParaRPr>
          </a:p>
          <a:p>
            <a:pPr indent="0" lvl="0" marL="0" rtl="0" algn="l">
              <a:lnSpc>
                <a:spcPct val="100000"/>
              </a:lnSpc>
              <a:spcBef>
                <a:spcPts val="1000"/>
              </a:spcBef>
              <a:spcAft>
                <a:spcPts val="0"/>
              </a:spcAft>
              <a:buNone/>
            </a:pPr>
            <a:r>
              <a:rPr lang="en" sz="1100">
                <a:solidFill>
                  <a:schemeClr val="dk1"/>
                </a:solidFill>
              </a:rPr>
              <a:t>Creates a NetworkSimulator</a:t>
            </a:r>
            <a:endParaRPr sz="1100">
              <a:solidFill>
                <a:schemeClr val="dk1"/>
              </a:solidFill>
            </a:endParaRPr>
          </a:p>
          <a:p>
            <a:pPr indent="0" lvl="0" marL="0" rtl="0" algn="l">
              <a:lnSpc>
                <a:spcPct val="100000"/>
              </a:lnSpc>
              <a:spcBef>
                <a:spcPts val="1000"/>
              </a:spcBef>
              <a:spcAft>
                <a:spcPts val="0"/>
              </a:spcAft>
              <a:buNone/>
            </a:pPr>
            <a:r>
              <a:rPr lang="en" sz="1100">
                <a:solidFill>
                  <a:schemeClr val="dk1"/>
                </a:solidFill>
              </a:rPr>
              <a:t>Defines routing rule (dest=2 → nextHop=99)</a:t>
            </a:r>
            <a:endParaRPr sz="1100">
              <a:solidFill>
                <a:schemeClr val="dk1"/>
              </a:solidFill>
            </a:endParaRPr>
          </a:p>
          <a:p>
            <a:pPr indent="0" lvl="0" marL="0" rtl="0" algn="l">
              <a:lnSpc>
                <a:spcPct val="100000"/>
              </a:lnSpc>
              <a:spcBef>
                <a:spcPts val="1000"/>
              </a:spcBef>
              <a:spcAft>
                <a:spcPts val="0"/>
              </a:spcAft>
              <a:buNone/>
            </a:pPr>
            <a:r>
              <a:rPr lang="en" sz="1100">
                <a:solidFill>
                  <a:schemeClr val="dk1"/>
                </a:solidFill>
              </a:rPr>
              <a:t>Builds a packet &amp; verifies checksum</a:t>
            </a:r>
            <a:endParaRPr sz="1100">
              <a:solidFill>
                <a:schemeClr val="dk1"/>
              </a:solidFill>
            </a:endParaRPr>
          </a:p>
          <a:p>
            <a:pPr indent="0" lvl="0" marL="0" rtl="0" algn="l">
              <a:lnSpc>
                <a:spcPct val="100000"/>
              </a:lnSpc>
              <a:spcBef>
                <a:spcPts val="1000"/>
              </a:spcBef>
              <a:spcAft>
                <a:spcPts val="0"/>
              </a:spcAft>
              <a:buNone/>
            </a:pPr>
            <a:r>
              <a:rPr lang="en" sz="1100">
                <a:solidFill>
                  <a:schemeClr val="dk1"/>
                </a:solidFill>
              </a:rPr>
              <a:t>Sends packet through routing system</a:t>
            </a:r>
            <a:endParaRPr sz="1100">
              <a:solidFill>
                <a:schemeClr val="dk1"/>
              </a:solidFill>
            </a:endParaRPr>
          </a:p>
          <a:p>
            <a:pPr indent="0" lvl="0" marL="0" rtl="0" algn="l">
              <a:lnSpc>
                <a:spcPct val="100000"/>
              </a:lnSpc>
              <a:spcBef>
                <a:spcPts val="1000"/>
              </a:spcBef>
              <a:spcAft>
                <a:spcPts val="0"/>
              </a:spcAft>
              <a:buNone/>
            </a:pPr>
            <a:r>
              <a:rPr lang="en" sz="1100">
                <a:solidFill>
                  <a:schemeClr val="dk1"/>
                </a:solidFill>
              </a:rPr>
              <a:t>Demonstrates both flow-control methods</a:t>
            </a:r>
            <a:endParaRPr sz="1100">
              <a:solidFill>
                <a:schemeClr val="dk1"/>
              </a:solidFill>
            </a:endParaRPr>
          </a:p>
          <a:p>
            <a:pPr indent="0" lvl="0" marL="0" rtl="0" algn="l">
              <a:lnSpc>
                <a:spcPct val="100000"/>
              </a:lnSpc>
              <a:spcBef>
                <a:spcPts val="1000"/>
              </a:spcBef>
              <a:spcAft>
                <a:spcPts val="0"/>
              </a:spcAft>
              <a:buNone/>
            </a:pPr>
            <a:r>
              <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public static void main(String[] args) {</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NetworkSimulator simulator = new NetworkSimulator();</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simulator.addRoute(2, 99);</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Packet p = new Packet(1, 2, "Hello, Node 2!");</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System.out.println("Checksum valid? " + p.verifyChecksum());</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simulator.sendPacket(p);</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FlowControl fc = new FlowControl();</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fc.stopAndWait(p);</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fc.slidingWindow(new Packet[]{ ... }, 2);</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 sz="1100">
                <a:solidFill>
                  <a:schemeClr val="dk1"/>
                </a:solidFill>
              </a:rPr>
              <a:t>Main.java ties all system components together.</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Packet.java</a:t>
            </a:r>
            <a:endParaRPr/>
          </a:p>
        </p:txBody>
      </p:sp>
      <p:sp>
        <p:nvSpPr>
          <p:cNvPr id="111" name="Google Shape;111;p2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400">
                <a:solidFill>
                  <a:schemeClr val="dk1"/>
                </a:solidFill>
              </a:rPr>
              <a:t>Stores:</a:t>
            </a:r>
            <a:endParaRPr b="1"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Source address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Destination address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Payload string</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Checksum (for integrity verification)</a:t>
            </a:r>
            <a:br>
              <a:rPr lang="en" sz="1400">
                <a:solidFill>
                  <a:schemeClr val="dk1"/>
                </a:solidFill>
              </a:rPr>
            </a:b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Key Method:</a:t>
            </a:r>
            <a:endParaRPr b="1" sz="1400">
              <a:solidFill>
                <a:schemeClr val="dk1"/>
              </a:solidFill>
            </a:endParaRPr>
          </a:p>
          <a:p>
            <a:pPr indent="457200" lvl="0" marL="0" rtl="0" algn="l">
              <a:spcBef>
                <a:spcPts val="1200"/>
              </a:spcBef>
              <a:spcAft>
                <a:spcPts val="0"/>
              </a:spcAft>
              <a:buNone/>
            </a:pPr>
            <a:r>
              <a:rPr lang="en" sz="1400">
                <a:solidFill>
                  <a:schemeClr val="dk1"/>
                </a:solidFill>
              </a:rPr>
              <a:t>verifyChecksum()</a:t>
            </a:r>
            <a:endParaRPr sz="1400">
              <a:solidFill>
                <a:schemeClr val="dk1"/>
              </a:solidFill>
            </a:endParaRPr>
          </a:p>
          <a:p>
            <a:pPr indent="0" lvl="0" marL="0" rtl="0" algn="l">
              <a:spcBef>
                <a:spcPts val="1200"/>
              </a:spcBef>
              <a:spcAft>
                <a:spcPts val="1200"/>
              </a:spcAft>
              <a:buNone/>
            </a:pPr>
            <a:r>
              <a:rPr lang="en" sz="1400">
                <a:solidFill>
                  <a:schemeClr val="dk1"/>
                </a:solidFill>
              </a:rPr>
              <a:t>Ensures packet has not been corrupted</a:t>
            </a:r>
            <a:endParaRPr sz="14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RoutingTable.java</a:t>
            </a:r>
            <a:endParaRPr/>
          </a:p>
        </p:txBody>
      </p:sp>
      <p:sp>
        <p:nvSpPr>
          <p:cNvPr id="117" name="Google Shape;117;p2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chemeClr val="dk1"/>
              </a:buClr>
              <a:buSzPts val="1400"/>
              <a:buChar char="●"/>
            </a:pPr>
            <a:r>
              <a:rPr lang="en" sz="1400">
                <a:solidFill>
                  <a:schemeClr val="dk1"/>
                </a:solidFill>
              </a:rPr>
              <a:t>Holds routing entries in a HashMap</a:t>
            </a:r>
            <a:br>
              <a:rPr lang="en"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Maps destination -&gt; nextHop</a:t>
            </a:r>
            <a:br>
              <a:rPr lang="en" sz="1400">
                <a:solidFill>
                  <a:schemeClr val="dk1"/>
                </a:solidFill>
              </a:rPr>
            </a:b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Primary Operations:</a:t>
            </a:r>
            <a:endParaRPr b="1" sz="1400">
              <a:solidFill>
                <a:schemeClr val="dk1"/>
              </a:solidFill>
            </a:endParaRPr>
          </a:p>
          <a:p>
            <a:pPr indent="457200" lvl="0" marL="0" rtl="0" algn="l">
              <a:spcBef>
                <a:spcPts val="1200"/>
              </a:spcBef>
              <a:spcAft>
                <a:spcPts val="0"/>
              </a:spcAft>
              <a:buClr>
                <a:schemeClr val="dk1"/>
              </a:buClr>
              <a:buSzPts val="1100"/>
              <a:buFont typeface="Arial"/>
              <a:buNone/>
            </a:pPr>
            <a:r>
              <a:rPr lang="en" sz="1400">
                <a:solidFill>
                  <a:schemeClr val="dk1"/>
                </a:solidFill>
              </a:rPr>
              <a:t>addRoute(int dest, int nextHop)</a:t>
            </a:r>
            <a:endParaRPr sz="1400">
              <a:solidFill>
                <a:schemeClr val="dk1"/>
              </a:solidFill>
            </a:endParaRPr>
          </a:p>
          <a:p>
            <a:pPr indent="457200" lvl="0" marL="0" rtl="0" algn="l">
              <a:spcBef>
                <a:spcPts val="1200"/>
              </a:spcBef>
              <a:spcAft>
                <a:spcPts val="0"/>
              </a:spcAft>
              <a:buNone/>
            </a:pPr>
            <a:r>
              <a:rPr lang="en" sz="1400">
                <a:solidFill>
                  <a:schemeClr val="dk1"/>
                </a:solidFill>
              </a:rPr>
              <a:t>lookup(int dest)</a:t>
            </a:r>
            <a:endParaRPr sz="1400">
              <a:solidFill>
                <a:schemeClr val="dk1"/>
              </a:solidFill>
            </a:endParaRPr>
          </a:p>
          <a:p>
            <a:pPr indent="0" lvl="0" marL="0" rtl="0" algn="l">
              <a:spcBef>
                <a:spcPts val="1200"/>
              </a:spcBef>
              <a:spcAft>
                <a:spcPts val="1200"/>
              </a:spcAft>
              <a:buNone/>
            </a:pPr>
            <a:r>
              <a:rPr lang="en" sz="1400">
                <a:solidFill>
                  <a:schemeClr val="dk1"/>
                </a:solidFill>
              </a:rPr>
              <a:t>If unknown = returns -1 (No route)</a:t>
            </a:r>
            <a:endParaRPr sz="14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FlowControl.java</a:t>
            </a:r>
            <a:endParaRPr/>
          </a:p>
        </p:txBody>
      </p:sp>
      <p:sp>
        <p:nvSpPr>
          <p:cNvPr id="123" name="Google Shape;123;p2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Two transport-layer reliability mechanisms:</a:t>
            </a:r>
            <a:endParaRPr>
              <a:solidFill>
                <a:schemeClr val="dk1"/>
              </a:solidFill>
            </a:endParaRPr>
          </a:p>
          <a:p>
            <a:pPr indent="0" lvl="0" marL="0" rtl="0" algn="l">
              <a:spcBef>
                <a:spcPts val="1400"/>
              </a:spcBef>
              <a:spcAft>
                <a:spcPts val="0"/>
              </a:spcAft>
              <a:buClr>
                <a:schemeClr val="dk1"/>
              </a:buClr>
              <a:buSzPts val="1100"/>
              <a:buFont typeface="Arial"/>
              <a:buNone/>
            </a:pPr>
            <a:r>
              <a:rPr lang="en">
                <a:solidFill>
                  <a:schemeClr val="dk1"/>
                </a:solidFill>
              </a:rPr>
              <a:t>1. Stop-and-Wait</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One packet sent → must ACK before next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Simple, reliable, but slow</a:t>
            </a:r>
            <a:endParaRPr>
              <a:solidFill>
                <a:schemeClr val="dk1"/>
              </a:solidFill>
            </a:endParaRPr>
          </a:p>
          <a:p>
            <a:pPr indent="0" lvl="0" marL="0" rtl="0" algn="l">
              <a:spcBef>
                <a:spcPts val="1400"/>
              </a:spcBef>
              <a:spcAft>
                <a:spcPts val="0"/>
              </a:spcAft>
              <a:buClr>
                <a:schemeClr val="dk1"/>
              </a:buClr>
              <a:buSzPts val="1100"/>
              <a:buFont typeface="Arial"/>
              <a:buNone/>
            </a:pPr>
            <a:r>
              <a:rPr lang="en">
                <a:solidFill>
                  <a:schemeClr val="dk1"/>
                </a:solidFill>
              </a:rPr>
              <a:t>2. Sliding Window</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Multiple packets sent before ACK required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Faster throughput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Efficient for real network flow</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NetworkSimulator.java</a:t>
            </a:r>
            <a:endParaRPr/>
          </a:p>
        </p:txBody>
      </p:sp>
      <p:sp>
        <p:nvSpPr>
          <p:cNvPr id="129" name="Google Shape;129;p2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Responsible for packet transmission &amp; routing</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Functions:</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Add routing entries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Forward packets via next hop lookup</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Display routing decision results</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Output Example</a:t>
            </a:r>
            <a:endParaRPr/>
          </a:p>
        </p:txBody>
      </p:sp>
      <p:sp>
        <p:nvSpPr>
          <p:cNvPr id="135" name="Google Shape;135;p25"/>
          <p:cNvSpPr txBox="1"/>
          <p:nvPr>
            <p:ph idx="1" type="body"/>
          </p:nvPr>
        </p:nvSpPr>
        <p:spPr>
          <a:xfrm>
            <a:off x="311700" y="1152475"/>
            <a:ext cx="8520600" cy="368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Checksum valid? true</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Packet from 1 to 2 routed via 99</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Sending packet: Hello, Node 2!</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Waiting for ACK...</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ACK received for packet.</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Sending packet: Packet A</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Sending packet: Packet B</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ACKs received for window.</a:t>
            </a:r>
            <a:endParaRPr sz="12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Sending packet: Packet C</a:t>
            </a:r>
            <a:endParaRPr sz="1200">
              <a:solidFill>
                <a:schemeClr val="dk1"/>
              </a:solidFill>
            </a:endParaRPr>
          </a:p>
          <a:p>
            <a:pPr indent="0" lvl="0" marL="0" rtl="0" algn="l">
              <a:spcBef>
                <a:spcPts val="1200"/>
              </a:spcBef>
              <a:spcAft>
                <a:spcPts val="1200"/>
              </a:spcAft>
              <a:buNone/>
            </a:pPr>
            <a:r>
              <a:rPr lang="en" sz="1200">
                <a:solidFill>
                  <a:schemeClr val="dk1"/>
                </a:solidFill>
              </a:rPr>
              <a:t>ACKs received for window</a:t>
            </a:r>
            <a:r>
              <a:rPr lang="en" sz="1200">
                <a:solidFill>
                  <a:schemeClr val="dk1"/>
                </a:solidFill>
              </a:rPr>
              <a:t>.</a:t>
            </a:r>
            <a:endParaRPr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Screenshot of output</a:t>
            </a:r>
            <a:endParaRPr/>
          </a:p>
        </p:txBody>
      </p:sp>
      <p:sp>
        <p:nvSpPr>
          <p:cNvPr id="141" name="Google Shape;141;p2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26" title="Screenshot 2025-12-10 130403.png"/>
          <p:cNvPicPr preferRelativeResize="0"/>
          <p:nvPr/>
        </p:nvPicPr>
        <p:blipFill>
          <a:blip r:embed="rId3">
            <a:alphaModFix/>
          </a:blip>
          <a:stretch>
            <a:fillRect/>
          </a:stretch>
        </p:blipFill>
        <p:spPr>
          <a:xfrm>
            <a:off x="311700" y="1249788"/>
            <a:ext cx="4496674" cy="3221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Running the Program</a:t>
            </a:r>
            <a:endParaRPr/>
          </a:p>
        </p:txBody>
      </p:sp>
      <p:sp>
        <p:nvSpPr>
          <p:cNvPr id="148" name="Google Shape;148;p2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Compile:</a:t>
            </a:r>
            <a:endParaRPr>
              <a:solidFill>
                <a:schemeClr val="dk1"/>
              </a:solidFill>
            </a:endParaRPr>
          </a:p>
          <a:p>
            <a:pPr indent="0" lvl="0" marL="0" rtl="0" algn="l">
              <a:spcBef>
                <a:spcPts val="1200"/>
              </a:spcBef>
              <a:spcAft>
                <a:spcPts val="0"/>
              </a:spcAft>
              <a:buNone/>
            </a:pPr>
            <a:r>
              <a:rPr lang="en">
                <a:solidFill>
                  <a:schemeClr val="dk1"/>
                </a:solidFill>
              </a:rPr>
              <a:t>javac -d bin src/network/*.java</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Run:</a:t>
            </a:r>
            <a:endParaRPr>
              <a:solidFill>
                <a:schemeClr val="dk1"/>
              </a:solidFill>
            </a:endParaRPr>
          </a:p>
          <a:p>
            <a:pPr indent="0" lvl="0" marL="0" rtl="0" algn="l">
              <a:spcBef>
                <a:spcPts val="1200"/>
              </a:spcBef>
              <a:spcAft>
                <a:spcPts val="1200"/>
              </a:spcAft>
              <a:buNone/>
            </a:pPr>
            <a:r>
              <a:rPr lang="en">
                <a:solidFill>
                  <a:schemeClr val="dk1"/>
                </a:solidFill>
              </a:rPr>
              <a:t>java -cp bin network.Main</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Junit test Commands</a:t>
            </a:r>
            <a:endParaRPr/>
          </a:p>
        </p:txBody>
      </p:sp>
      <p:sp>
        <p:nvSpPr>
          <p:cNvPr id="154" name="Google Shape;154;p2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500">
                <a:solidFill>
                  <a:schemeClr val="dk1"/>
                </a:solidFill>
              </a:rPr>
              <a:t>Commands for testing functionality of each Test.java file (Run these commands in project root)</a:t>
            </a:r>
            <a:endParaRPr sz="15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java -cp "bin;libs/junit-4.13.2.jar;libs/hamcrest-core-1.3.jar" org.junit.runner.JUnitCore network.MainTest</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java -cp "bin;libs/junit-4.13.2.jar;libs/hamcrest-core-1.3.jar" org.junit.runner.JUnitCore network.PacketTest</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java -cp "bin;libs/junit-4.13.2.jar;libs/hamcrest-core-1.3.jar" org.junit.runner.JUnitCore network.RoutingTableTest</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java -cp "bin;libs/junit-4.13.2.jar;libs/hamcrest-core-1.3.jar" org.junit.runner.JUnitCore network.NetworkSimulatorTest</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java -cp "bin;libs/junit-4.13.2.jar;libs/hamcrest-core-1.3.jar" org.junit.runner.JUnitCore network.FlowControlTest</a:t>
            </a:r>
            <a:endParaRPr sz="1200">
              <a:solidFill>
                <a:schemeClr val="dk1"/>
              </a:solidFill>
            </a:endParaRPr>
          </a:p>
          <a:p>
            <a:pPr indent="0" lvl="0" marL="0" rtl="0" algn="l">
              <a:spcBef>
                <a:spcPts val="1200"/>
              </a:spcBef>
              <a:spcAft>
                <a:spcPts val="0"/>
              </a:spcAft>
              <a:buNone/>
            </a:pPr>
            <a:r>
              <a:rPr lang="en" sz="1500">
                <a:solidFill>
                  <a:schemeClr val="dk1"/>
                </a:solidFill>
              </a:rPr>
              <a:t>Command to run every Test.java file at once </a:t>
            </a:r>
            <a:endParaRPr sz="15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java -cp "bin;libs/junit-4.13.2.jar;libs/hamcrest-core-1.3.jar" org.junit.runner.JUnitCore network.MainTest network.PacketTest network.RoutingTableTest network.NetworkSimulatorTest network.FlowControlTest</a:t>
            </a:r>
            <a:endParaRPr sz="12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Link to </a:t>
            </a:r>
            <a:r>
              <a:rPr lang="en"/>
              <a:t>project</a:t>
            </a:r>
            <a:r>
              <a:rPr lang="en"/>
              <a:t> github repository</a:t>
            </a:r>
            <a:endParaRPr/>
          </a:p>
        </p:txBody>
      </p:sp>
      <p:sp>
        <p:nvSpPr>
          <p:cNvPr id="160" name="Google Shape;160;p2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https://github.com/Dollablozzy/Network-Simulator</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Summary</a:t>
            </a:r>
            <a:endParaRPr/>
          </a:p>
        </p:txBody>
      </p:sp>
      <p:sp>
        <p:nvSpPr>
          <p:cNvPr id="166" name="Google Shape;166;p3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Implemented Packet creation &amp; checksum validation</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Routing table for network forwarding</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Network simulator for packet transmission</a:t>
            </a:r>
            <a:endParaRPr>
              <a:solidFill>
                <a:schemeClr val="dk1"/>
              </a:solidFill>
            </a:endParaRPr>
          </a:p>
          <a:p>
            <a:pPr indent="0" lvl="0" marL="0" rtl="0" algn="l">
              <a:spcBef>
                <a:spcPts val="1200"/>
              </a:spcBef>
              <a:spcAft>
                <a:spcPts val="0"/>
              </a:spcAft>
              <a:buNone/>
            </a:pPr>
            <a:r>
              <a:rPr lang="en">
                <a:solidFill>
                  <a:schemeClr val="dk1"/>
                </a:solidFill>
              </a:rPr>
              <a:t>Stop-and-Wait + Sliding Window flow control</a:t>
            </a:r>
            <a:endParaRPr>
              <a:solidFill>
                <a:schemeClr val="dk1"/>
              </a:solidFill>
            </a:endParaRPr>
          </a:p>
          <a:p>
            <a:pPr indent="0" lvl="0" marL="0" rtl="0" algn="l">
              <a:spcBef>
                <a:spcPts val="1200"/>
              </a:spcBef>
              <a:spcAft>
                <a:spcPts val="1200"/>
              </a:spcAft>
              <a:buNone/>
            </a:pPr>
            <a:r>
              <a:rPr lang="en">
                <a:solidFill>
                  <a:schemeClr val="dk1"/>
                </a:solidFill>
              </a:rPr>
              <a:t>Demonstrates core networking principles through Java simulation</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Conclusion 						 Future Improvements</a:t>
            </a:r>
            <a:endParaRPr/>
          </a:p>
        </p:txBody>
      </p:sp>
      <p:sp>
        <p:nvSpPr>
          <p:cNvPr id="172" name="Google Shape;172;p31"/>
          <p:cNvSpPr txBox="1"/>
          <p:nvPr>
            <p:ph idx="1" type="body"/>
          </p:nvPr>
        </p:nvSpPr>
        <p:spPr>
          <a:xfrm>
            <a:off x="248575" y="1152475"/>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lang="en" sz="1000">
                <a:solidFill>
                  <a:schemeClr val="dk1"/>
                </a:solidFill>
              </a:rPr>
              <a:t>The Networking Stack Simulation demonstrates the foundational concepts behind packet-based communication in computer networks through a clean and modular Java implementation. By modeling packets, routing tables, simulators, and flow control protocols, the project provides a clear, hands-on understanding of how data travels across a network and what mechanisms ensure reliable delivery.</a:t>
            </a:r>
            <a:endParaRPr sz="1000">
              <a:solidFill>
                <a:schemeClr val="dk1"/>
              </a:solidFill>
            </a:endParaRPr>
          </a:p>
          <a:p>
            <a:pPr indent="0" lvl="0" marL="0" rtl="0" algn="l">
              <a:spcBef>
                <a:spcPts val="1200"/>
              </a:spcBef>
              <a:spcAft>
                <a:spcPts val="0"/>
              </a:spcAft>
              <a:buClr>
                <a:schemeClr val="dk1"/>
              </a:buClr>
              <a:buSzPts val="1100"/>
              <a:buFont typeface="Arial"/>
              <a:buNone/>
            </a:pPr>
            <a:r>
              <a:rPr lang="en" sz="1000">
                <a:solidFill>
                  <a:schemeClr val="dk1"/>
                </a:solidFill>
              </a:rPr>
              <a:t>Although simplified, the system captures the essence of real-world behaviors—such as checksum validation, next-hop routing, and the difference between Stop-and-Wait and Sliding Window protocols. Its structure makes it suitable for classroom demonstrations, student labs, and introductory exploration of networking principles. The included JUnit tests also help reinforce good development practices and ensure correctness of the underlying logic.</a:t>
            </a:r>
            <a:endParaRPr sz="1000">
              <a:solidFill>
                <a:schemeClr val="dk1"/>
              </a:solidFill>
            </a:endParaRPr>
          </a:p>
          <a:p>
            <a:pPr indent="0" lvl="0" marL="0" rtl="0" algn="l">
              <a:spcBef>
                <a:spcPts val="1200"/>
              </a:spcBef>
              <a:spcAft>
                <a:spcPts val="0"/>
              </a:spcAft>
              <a:buClr>
                <a:schemeClr val="dk1"/>
              </a:buClr>
              <a:buSzPts val="1100"/>
              <a:buFont typeface="Arial"/>
              <a:buNone/>
            </a:pPr>
            <a:r>
              <a:rPr lang="en" sz="1000">
                <a:solidFill>
                  <a:schemeClr val="dk1"/>
                </a:solidFill>
              </a:rPr>
              <a:t>Overall, this project achieves its goal of illustrating the relationship between packets, routing, and flow control while leaving plenty of room for deeper experimentation.</a:t>
            </a:r>
            <a:endParaRPr sz="1000">
              <a:solidFill>
                <a:schemeClr val="dk1"/>
              </a:solidFill>
            </a:endParaRPr>
          </a:p>
          <a:p>
            <a:pPr indent="0" lvl="0" marL="0" rtl="0" algn="l">
              <a:spcBef>
                <a:spcPts val="1200"/>
              </a:spcBef>
              <a:spcAft>
                <a:spcPts val="1200"/>
              </a:spcAft>
              <a:buNone/>
            </a:pPr>
            <a:r>
              <a:t/>
            </a:r>
            <a:endParaRPr sz="1000">
              <a:solidFill>
                <a:schemeClr val="dk1"/>
              </a:solidFill>
            </a:endParaRPr>
          </a:p>
        </p:txBody>
      </p:sp>
      <p:sp>
        <p:nvSpPr>
          <p:cNvPr id="173" name="Google Shape;173;p31"/>
          <p:cNvSpPr txBox="1"/>
          <p:nvPr/>
        </p:nvSpPr>
        <p:spPr>
          <a:xfrm>
            <a:off x="4508875" y="1152475"/>
            <a:ext cx="3376500" cy="34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Add Error Simulation</a:t>
            </a:r>
            <a:endParaRPr b="1"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Introduce packet corruption, drops, and retransmission handling.</a:t>
            </a:r>
            <a:br>
              <a:rPr lang="en" sz="1000">
                <a:solidFill>
                  <a:schemeClr val="dk1"/>
                </a:solidFill>
              </a:rPr>
            </a:br>
            <a:endParaRPr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Enhance Flow Control</a:t>
            </a:r>
            <a:br>
              <a:rPr b="1" lang="en" sz="1000">
                <a:solidFill>
                  <a:schemeClr val="dk1"/>
                </a:solidFill>
              </a:rPr>
            </a:br>
            <a:r>
              <a:rPr lang="en" sz="1000">
                <a:solidFill>
                  <a:schemeClr val="dk1"/>
                </a:solidFill>
              </a:rPr>
              <a:t>Implement realistic Sliding Window features such as sequence numbers, ACKs, and timeouts.</a:t>
            </a:r>
            <a:br>
              <a:rPr lang="en" sz="1000">
                <a:solidFill>
                  <a:schemeClr val="dk1"/>
                </a:solidFill>
              </a:rPr>
            </a:br>
            <a:endParaRPr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Support Multi-Hop Routing</a:t>
            </a:r>
            <a:br>
              <a:rPr b="1" lang="en" sz="1000">
                <a:solidFill>
                  <a:schemeClr val="dk1"/>
                </a:solidFill>
              </a:rPr>
            </a:br>
            <a:r>
              <a:rPr lang="en" sz="1000">
                <a:solidFill>
                  <a:schemeClr val="dk1"/>
                </a:solidFill>
              </a:rPr>
              <a:t>Expand routing beyond a single next hop and simulate full network topologies.</a:t>
            </a:r>
            <a:br>
              <a:rPr lang="en" sz="1000">
                <a:solidFill>
                  <a:schemeClr val="dk1"/>
                </a:solidFill>
              </a:rPr>
            </a:br>
            <a:endParaRPr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Add Congestion Modeling</a:t>
            </a:r>
            <a:br>
              <a:rPr b="1" lang="en" sz="1000">
                <a:solidFill>
                  <a:schemeClr val="dk1"/>
                </a:solidFill>
              </a:rPr>
            </a:br>
            <a:r>
              <a:rPr lang="en" sz="1000">
                <a:solidFill>
                  <a:schemeClr val="dk1"/>
                </a:solidFill>
              </a:rPr>
              <a:t>Include queueing, packet loss from overflow, and simple congestion control.</a:t>
            </a:r>
            <a:br>
              <a:rPr lang="en" sz="1000">
                <a:solidFill>
                  <a:schemeClr val="dk1"/>
                </a:solidFill>
              </a:rPr>
            </a:br>
            <a:endParaRPr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Create Visualization Tools</a:t>
            </a:r>
            <a:br>
              <a:rPr b="1" lang="en" sz="1000">
                <a:solidFill>
                  <a:schemeClr val="dk1"/>
                </a:solidFill>
              </a:rPr>
            </a:br>
            <a:r>
              <a:rPr lang="en" sz="1000">
                <a:solidFill>
                  <a:schemeClr val="dk1"/>
                </a:solidFill>
              </a:rPr>
              <a:t>Provide a GUI or console visualization to show packet movement and window progression.</a:t>
            </a:r>
            <a:endParaRPr sz="1000">
              <a:solidFill>
                <a:schemeClr val="dk1"/>
              </a:solidFill>
            </a:endParaRPr>
          </a:p>
          <a:p>
            <a:pPr indent="0" lvl="0" marL="0" rtl="0" algn="l">
              <a:spcBef>
                <a:spcPts val="0"/>
              </a:spcBef>
              <a:spcAft>
                <a:spcPts val="0"/>
              </a:spcAft>
              <a:buNone/>
            </a:pPr>
            <a:r>
              <a:t/>
            </a:r>
            <a:endParaRPr sz="1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Team Contributions</a:t>
            </a:r>
            <a:endParaRPr/>
          </a:p>
        </p:txBody>
      </p:sp>
      <p:sp>
        <p:nvSpPr>
          <p:cNvPr id="179" name="Google Shape;179;p32"/>
          <p:cNvSpPr txBox="1"/>
          <p:nvPr>
            <p:ph idx="1" type="body"/>
          </p:nvPr>
        </p:nvSpPr>
        <p:spPr>
          <a:xfrm>
            <a:off x="311700" y="1168250"/>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chemeClr val="dk1"/>
                </a:solidFill>
              </a:rPr>
              <a:t>Myles Moore - Source Code and Github </a:t>
            </a:r>
            <a:r>
              <a:rPr lang="en">
                <a:solidFill>
                  <a:schemeClr val="dk1"/>
                </a:solidFill>
              </a:rPr>
              <a:t>Repository</a:t>
            </a:r>
            <a:endParaRPr>
              <a:solidFill>
                <a:schemeClr val="dk1"/>
              </a:solidFill>
            </a:endParaRPr>
          </a:p>
          <a:p>
            <a:pPr indent="0" lvl="0" marL="0" rtl="0" algn="l">
              <a:spcBef>
                <a:spcPts val="1200"/>
              </a:spcBef>
              <a:spcAft>
                <a:spcPts val="0"/>
              </a:spcAft>
              <a:buNone/>
            </a:pPr>
            <a:r>
              <a:rPr lang="en">
                <a:solidFill>
                  <a:schemeClr val="dk1"/>
                </a:solidFill>
              </a:rPr>
              <a:t>S</a:t>
            </a:r>
            <a:r>
              <a:rPr lang="en">
                <a:solidFill>
                  <a:schemeClr val="dk1"/>
                </a:solidFill>
              </a:rPr>
              <a:t>ean Wright - Presentation, Readme File, Github Repository </a:t>
            </a:r>
            <a:endParaRPr>
              <a:solidFill>
                <a:schemeClr val="dk1"/>
              </a:solidFill>
            </a:endParaRPr>
          </a:p>
          <a:p>
            <a:pPr indent="0" lvl="0" marL="0" rtl="0" algn="l">
              <a:spcBef>
                <a:spcPts val="1200"/>
              </a:spcBef>
              <a:spcAft>
                <a:spcPts val="0"/>
              </a:spcAft>
              <a:buNone/>
            </a:pPr>
            <a:r>
              <a:rPr lang="en">
                <a:solidFill>
                  <a:schemeClr val="dk1"/>
                </a:solidFill>
              </a:rPr>
              <a:t>Janee Lewis - Test Cases, Presentation</a:t>
            </a:r>
            <a:endParaRPr>
              <a:solidFill>
                <a:schemeClr val="dk1"/>
              </a:solidFill>
            </a:endParaRPr>
          </a:p>
          <a:p>
            <a:pPr indent="0" lvl="0" marL="0" rtl="0" algn="l">
              <a:spcBef>
                <a:spcPts val="1200"/>
              </a:spcBef>
              <a:spcAft>
                <a:spcPts val="0"/>
              </a:spcAft>
              <a:buNone/>
            </a:pPr>
            <a:r>
              <a:rPr lang="en">
                <a:solidFill>
                  <a:schemeClr val="dk1"/>
                </a:solidFill>
              </a:rPr>
              <a:t>Josh Harrell - Source Code, Makefile</a:t>
            </a:r>
            <a:endParaRPr>
              <a:solidFill>
                <a:schemeClr val="dk1"/>
              </a:solidFill>
            </a:endParaRPr>
          </a:p>
          <a:p>
            <a:pPr indent="0" lvl="0" marL="0" rtl="0" algn="l">
              <a:spcBef>
                <a:spcPts val="1200"/>
              </a:spcBef>
              <a:spcAft>
                <a:spcPts val="0"/>
              </a:spcAft>
              <a:buNone/>
            </a:pPr>
            <a:r>
              <a:rPr lang="en">
                <a:solidFill>
                  <a:schemeClr val="dk1"/>
                </a:solidFill>
              </a:rPr>
              <a:t>Sudina Thapaliya - Readme File</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
                <a:solidFill>
                  <a:schemeClr val="dk1"/>
                </a:solidFill>
              </a:rPr>
              <a:t>We all provided each other a great deal of communication and collaboration. We all provided help to each other when needed so that we could </a:t>
            </a:r>
            <a:r>
              <a:rPr lang="en">
                <a:solidFill>
                  <a:schemeClr val="dk1"/>
                </a:solidFill>
              </a:rPr>
              <a:t>complete the project efficiently.</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Questions?</a:t>
            </a:r>
            <a:endParaRPr/>
          </a:p>
        </p:txBody>
      </p:sp>
      <p:sp>
        <p:nvSpPr>
          <p:cNvPr id="185" name="Google Shape;185;p3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Ask Anything!</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